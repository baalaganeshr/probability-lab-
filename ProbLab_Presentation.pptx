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baalaganeshr.github.io/Probability-lab-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86868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73736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60604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347472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343400"/>
            <a:ext cx="8979408" cy="0"/>
          </a:xfrm>
          <a:prstGeom prst="line">
            <a:avLst/>
          </a:prstGeom>
          <a:noFill/>
          <a:ln w="6350">
            <a:solidFill>
              <a:srgbClr val="1A2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D3A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PROBABILITY &amp; RANDOM PROCESSES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ProbLab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Probability Formula Calculator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tool for Binomial, Poisson, Normal Distributions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Random Variables with step-by-step solutions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22D3EE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baalaganeshr.github.io/Probability-lab-/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Baala Ganesh R  |  24EC011  |  2025–2026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457200"/>
            <a:ext cx="338328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45720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530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Binomial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841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 = C(n,k)·pᵏ·(1-p)ⁿ⁻ᵏ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645920"/>
            <a:ext cx="338328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645920"/>
            <a:ext cx="54864" cy="9144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Poisson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 = (λᵏ·e⁻λ) / k!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834640"/>
            <a:ext cx="338328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2834640"/>
            <a:ext cx="54864" cy="914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Normal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1/(σ√2π)·e^(-½z²)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4023360"/>
            <a:ext cx="338328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4023360"/>
            <a:ext cx="54864" cy="9144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Rand. Vars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E(X) = Σx·P(x)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PROBLEM &amp;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023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3931920" cy="384048"/>
          </a:xfrm>
          <a:prstGeom prst="rect">
            <a:avLst/>
          </a:prstGeom>
          <a:solidFill>
            <a:srgbClr val="3D1A2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probability computation is slow and error-prone for students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391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calculators give only final answers — no working shown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7523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are static and lack any form of interactivity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557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tool combines computation + visual learning for ECE students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777240"/>
            <a:ext cx="3931920" cy="4023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777240"/>
            <a:ext cx="3931920" cy="384048"/>
          </a:xfrm>
          <a:prstGeom prst="rect">
            <a:avLst/>
          </a:prstGeom>
          <a:solidFill>
            <a:srgbClr val="0D3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777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371600"/>
            <a:ext cx="219456" cy="2194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3716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9240" y="13258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calculators for Binomial, Poisson, and Normal distributions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084832"/>
            <a:ext cx="219456" cy="2194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084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203911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step-by-step working for every computation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798064"/>
            <a:ext cx="219456" cy="2194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7980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27523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real-time distribution charts that highlight computed values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511296"/>
            <a:ext cx="219456" cy="2194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5112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9240" y="346557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free, zero-install tool on GitHub Pages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MATHEMATICAL 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2148840"/>
          </a:xfrm>
          <a:prstGeom prst="rect">
            <a:avLst/>
          </a:prstGeom>
          <a:solidFill>
            <a:srgbClr val="0D2A3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31520"/>
            <a:ext cx="4023360" cy="3474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Binomial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D3EE"/>
                </a:solidFill>
              </a:rPr>
              <a:t>PMF / PDF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 = C(n,k) · pᵏ · (1-p)ⁿ⁻ᵏ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E(X) = n·p    Var(X) = n·p·(1-p)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3749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128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</a:rPr>
              <a:t>↳ Quality control, election polling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731520"/>
            <a:ext cx="4023360" cy="2148840"/>
          </a:xfrm>
          <a:prstGeom prst="rect">
            <a:avLst/>
          </a:prstGeom>
          <a:solidFill>
            <a:srgbClr val="2A0D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731520"/>
            <a:ext cx="4023360" cy="34747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Poisson Distribution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170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72B6"/>
                </a:solidFill>
              </a:rPr>
              <a:t>PMF / PDF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83480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P(X=k) = (λᵏ · e⁻λ) / k!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1719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E(X) = λ    Var(X) = λ    σ = √λ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121408"/>
            <a:ext cx="3749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2128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72B6"/>
                </a:solidFill>
              </a:rPr>
              <a:t>↳ Call center arrivals, radioactive decay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4023360" cy="214884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743200"/>
            <a:ext cx="4023360" cy="34747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43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Normal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1821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DE80"/>
                </a:solidFill>
              </a:rPr>
              <a:t>PMF / PDF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1/(σ√2π) · e^(-½·((x-μ)/σ)²)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730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(x-μ)/σ    68-95-99.7 Rule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33088"/>
            <a:ext cx="3749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DE80"/>
                </a:solidFill>
              </a:rPr>
              <a:t>↳ Exam scores, signal noise in ECE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743200"/>
            <a:ext cx="4023360" cy="2148840"/>
          </a:xfrm>
          <a:prstGeom prst="rect">
            <a:avLst/>
          </a:prstGeom>
          <a:solidFill>
            <a:srgbClr val="2A1A0D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2743200"/>
            <a:ext cx="402336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43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Random Variables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1821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923C"/>
                </a:solidFill>
              </a:rPr>
              <a:t>PMF / PDF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83480" y="3364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E(X) = Σ x·P(x)    Var(X) = E(X²) - [E(X)]²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730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E(aX+b) = a·E(X)+b    Var(aX+b) = a²·Var(X)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4133088"/>
            <a:ext cx="3749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923C"/>
                </a:solidFill>
              </a:rPr>
              <a:t>↳ Statistical summaries of distributions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SYSTEM DESIGN &amp;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949E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" cy="5029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197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HTML5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417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Semantic structure &amp; accessibility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64792"/>
            <a:ext cx="54864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792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CSS3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2011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Dark theme, Grid, Flexbox, animations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359152"/>
            <a:ext cx="54864" cy="5029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3865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Vanilla 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ES6+ calculations &amp; DOM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5351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953512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Chart.js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3200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Bar charts (PMF) &amp; line charts (PDF)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547872"/>
            <a:ext cx="54864" cy="5029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575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Canvas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Floating math symbol particles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142232"/>
            <a:ext cx="41148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4142232"/>
            <a:ext cx="54864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" y="41696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GitHub Pages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Free static hosting, global CDN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731520"/>
            <a:ext cx="416052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731520"/>
            <a:ext cx="4160520" cy="347472"/>
          </a:xfrm>
          <a:prstGeom prst="rect">
            <a:avLst/>
          </a:prstGeom>
          <a:solidFill>
            <a:srgbClr val="0D3A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7315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SINGLE-FILE ARCHITECTURE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234440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12710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Tab Navigation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goTab()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1801368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1837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Binomial Engine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2048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bSel(), bK(), bCalc()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368296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Poisson 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19472" y="2615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pSel(), pK(), pCalc()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2935224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Normal Engine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9472" y="3182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nSel(), nK(), nCalc()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502152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3538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Random Variables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19472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rvRender(), rvCalc()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4069080"/>
            <a:ext cx="384048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4105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Chart System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9472" y="4315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mkBar(), mkLine()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4526280"/>
            <a:ext cx="3840480" cy="256032"/>
          </a:xfrm>
          <a:prstGeom prst="rect">
            <a:avLst/>
          </a:prstGeom>
          <a:solidFill>
            <a:srgbClr val="0D3A1A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4526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  Zero dependencies  ·  Single index.html  · 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PROCESS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9164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691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78992"/>
            <a:ext cx="694944" cy="69494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Select distribution tab.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Enter parameters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custom keypad.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426464"/>
            <a:ext cx="3017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13304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914400"/>
            <a:ext cx="169164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914400"/>
            <a:ext cx="1691640" cy="640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96312" y="1078992"/>
            <a:ext cx="694944" cy="69494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84832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2423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Inputs validated.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Quick Example preset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available.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85032" y="1426464"/>
            <a:ext cx="301752" cy="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3304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58184" y="914400"/>
            <a:ext cx="169164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914400"/>
            <a:ext cx="1691640" cy="6400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61104" y="1078992"/>
            <a:ext cx="694944" cy="69494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4261104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9624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Computation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9624" y="2423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JS engine runs formula.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Factorial, combination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&amp; PMF calculated.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9824" y="1426464"/>
            <a:ext cx="301752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13304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914400"/>
            <a:ext cx="169164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22976" y="914400"/>
            <a:ext cx="1691640" cy="6400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25896" y="1078992"/>
            <a:ext cx="694944" cy="69494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1" name="Text 29"/>
          <p:cNvSpPr/>
          <p:nvPr/>
        </p:nvSpPr>
        <p:spPr>
          <a:xfrm>
            <a:off x="6025896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14416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Step Breakdown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14416" y="2423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Numbered working steps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displayed matching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exam format.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14616" y="1426464"/>
            <a:ext cx="301752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32904" y="133045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87768" y="914400"/>
            <a:ext cx="1691640" cy="3566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87768" y="914400"/>
            <a:ext cx="1691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8" name="Shape 36"/>
          <p:cNvSpPr/>
          <p:nvPr/>
        </p:nvSpPr>
        <p:spPr>
          <a:xfrm>
            <a:off x="7790688" y="1078992"/>
            <a:ext cx="694944" cy="69494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7790688" y="107899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05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379208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Chart Render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79208" y="242316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Chart.js plots 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distribution, highlights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computed value.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1A0D2E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</a:rPr>
              <a:t>🎊  Every successful calculation triggers confetti animation &amp; result flash — making learning enjoyable!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</a:rPr>
              <a:t>TESTING, RESULTS &amp; FUTURE SCOPE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69080" cy="4160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4069080" cy="347472"/>
          </a:xfrm>
          <a:prstGeom prst="rect">
            <a:avLst/>
          </a:prstGeom>
          <a:solidFill>
            <a:srgbClr val="0D2A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VALIDATION RESULTS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3931920" cy="2743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Distribution</a:t>
            </a:r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</a:rPr>
              <a:t>    Input</a:t>
            </a:r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</a:rPr>
              <a:t>    Result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3931920" cy="40233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481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Binomial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481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n=10, p=0.3, k=3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99232" y="14813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0.2668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39319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Binomial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n=5, p=0.5, k=2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99232" y="1920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0.3125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3931920" cy="40233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3591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</a:rPr>
              <a:t>Poisson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2359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λ=4, k=2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99232" y="23591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0.1465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61488"/>
            <a:ext cx="39319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7980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</a:rPr>
              <a:t>Poisson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27980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λ=3, k=5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9232" y="27980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0.1008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3931920" cy="40233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236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Normal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32369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μ=0, σ=1, x=0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99232" y="3236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0.39894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639312"/>
            <a:ext cx="39319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6758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Normal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36758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μ=100, σ=15, x=85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99232" y="36758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0.02130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33088"/>
            <a:ext cx="3931920" cy="566928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1330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</a:rPr>
              <a:t>📱 Responsive: Desktop · Tablet (860px) · Mobile (600px) · Small (380px)  — All Pass ✓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749808"/>
            <a:ext cx="4206240" cy="347472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749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KEY ACHIEVEMENTS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170432"/>
            <a:ext cx="42062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1225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1207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4 fully functional calculators with step-by-step breakdowns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1627632"/>
            <a:ext cx="4206240" cy="40233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1664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Real-time Chart.js distribution visualizations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084832"/>
            <a:ext cx="42062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21214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Custom keypad UI — polished dark theme, mobile-ready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542032"/>
            <a:ext cx="4206240" cy="40233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7" name="Text 45"/>
          <p:cNvSpPr/>
          <p:nvPr/>
        </p:nvSpPr>
        <p:spPr>
          <a:xfrm>
            <a:off x="4736592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2578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Innovative: Particles, confetti, dice roller, quick presets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999232"/>
            <a:ext cx="420624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8"/>
          <p:cNvSpPr/>
          <p:nvPr/>
        </p:nvSpPr>
        <p:spPr>
          <a:xfrm>
            <a:off x="4736592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0" y="3035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Zero-dependency single-file — instant GitHub Pages deploy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3547872"/>
            <a:ext cx="4206240" cy="347472"/>
          </a:xfrm>
          <a:prstGeom prst="rect">
            <a:avLst/>
          </a:prstGeom>
          <a:solidFill>
            <a:srgbClr val="2A1A0D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3547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9160" y="400507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39593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Cumulative P(X≤k) &amp; P(X≥k) with shaded regions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09160" y="4306824"/>
            <a:ext cx="128016" cy="12801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7" name="Text 55"/>
          <p:cNvSpPr/>
          <p:nvPr/>
        </p:nvSpPr>
        <p:spPr>
          <a:xfrm>
            <a:off x="4919472" y="42611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Z-Table lookup for Φ(z) values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608576"/>
            <a:ext cx="128016" cy="12801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9" name="Text 57"/>
          <p:cNvSpPr/>
          <p:nvPr/>
        </p:nvSpPr>
        <p:spPr>
          <a:xfrm>
            <a:off x="4919472" y="4562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Export step-by-step working to PDF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09160" y="4910328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61" name="Text 59"/>
          <p:cNvSpPr/>
          <p:nvPr/>
        </p:nvSpPr>
        <p:spPr>
          <a:xfrm>
            <a:off x="4919472" y="48646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PWA support for full offline capability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RANDOM TELEGRAPH SIGNAL (RTS)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2331720"/>
          </a:xfrm>
          <a:prstGeom prst="rect">
            <a:avLst/>
          </a:prstGeom>
          <a:solidFill>
            <a:srgbClr val="1A10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412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RTS DISTRIBUTION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Mean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11338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E[X(t)]  = 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517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Var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517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Var[X(t)]  =  A²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019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R(τ)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R(τ)  =  A² · e^(−2α|τ|)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286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S(f)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22860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S(f)  =  4A²α / (4α² + (2πf)²)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502920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Switches between +A and −A.  Transitions follow Poisson process with rate α.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30168"/>
            <a:ext cx="2304288" cy="12344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630168"/>
            <a:ext cx="2304288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39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Mean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005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E[X(t)] =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25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always zero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70048" y="3630168"/>
            <a:ext cx="2304288" cy="12344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670048" y="3630168"/>
            <a:ext cx="2304288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2761488" y="3739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Variance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61488" y="4005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Var[X(t)] = A²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61488" y="4425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amplitude sq.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5029200" cy="320040"/>
          </a:xfrm>
          <a:prstGeom prst="rect">
            <a:avLst/>
          </a:prstGeom>
          <a:solidFill>
            <a:srgbClr val="0D0D2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📈  R(τ) chart: decaying exponential, symmetric about τ = 0  ·  Computed point highlighted in cyan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749808"/>
            <a:ext cx="338328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0" y="749808"/>
            <a:ext cx="3383280" cy="347472"/>
          </a:xfrm>
          <a:prstGeom prst="rect">
            <a:avLst/>
          </a:prstGeom>
          <a:solidFill>
            <a:srgbClr val="2A1A50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749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PARAMETERS &amp; OUTPUTS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1188720"/>
            <a:ext cx="320040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3" name="Shape 31"/>
          <p:cNvSpPr/>
          <p:nvPr/>
        </p:nvSpPr>
        <p:spPr>
          <a:xfrm>
            <a:off x="5614416" y="1289304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5614416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1225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Signal Amplitude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1888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A = 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1755648"/>
            <a:ext cx="320040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5614416" y="1856232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5614416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61888" y="1792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Transition Rate (α &gt; 0)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61888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α =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2322576"/>
            <a:ext cx="320040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5614416" y="2423160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5614416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61888" y="23591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Time Lag (autocorr)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61888" y="2578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τ = 0.5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2889504"/>
            <a:ext cx="3200400" cy="4754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5614416" y="2990088"/>
            <a:ext cx="274320" cy="2743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9" name="Text 47"/>
          <p:cNvSpPr/>
          <p:nvPr/>
        </p:nvSpPr>
        <p:spPr>
          <a:xfrm>
            <a:off x="5614416" y="2990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f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61888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Frequency Hz (PSD)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61888" y="3145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f = 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77840" y="4389120"/>
            <a:ext cx="3200400" cy="384048"/>
          </a:xfrm>
          <a:prstGeom prst="rect">
            <a:avLst/>
          </a:prstGeom>
          <a:solidFill>
            <a:srgbClr val="1A103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389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Quick Example: A=1, α=2, τ=0.5, f=1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ProbLab - Interactive Probability Calculator</dc:title>
  <dc:subject>PptxGenJS Presentation</dc:subject>
  <dc:creator>Baala Ganesh R</dc:creator>
  <cp:lastModifiedBy>Baala Ganesh R</cp:lastModifiedBy>
  <cp:revision>1</cp:revision>
  <dcterms:created xsi:type="dcterms:W3CDTF">2026-04-02T16:37:45Z</dcterms:created>
  <dcterms:modified xsi:type="dcterms:W3CDTF">2026-04-02T16:37:45Z</dcterms:modified>
</cp:coreProperties>
</file>